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오늘은 Kaggle의 포켓몬 데이터셋 800마리를 활용해 종족값 구조를 분석한 결과를 공유하겠습니다. 타입, 세대, 전설 여부라는 세 가지 축으로 '강함'이 어떻게 구성되는지 살펴봤습니다.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크게 데이터 소개, 핵심 발견, 분포와 상위권, 타입과 전설, 상관과 세대, 그리고 결론 순으로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데이터는 Kaggle의 abcsds/pokemon 데이터셋으로, 1세대부터 6세대까지 800마리, 13개 변수로 구성됩니다. 결측치는 없고, 복합 타입 비율은 51.8%입니다. 총합은 6개 능력치를 그대로 더한 값임을 먼저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숫자 네 가지입니다. 800마리 중 65마리가 전설이고, 전설의 평균 총합은 637.4로 일반보다 52.8% 높습니다. 타입 중에서는 Dragon이 541.8로 가장 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종족값 분포를 보면 350에서 550 사이에 절반 이상이 몰려 있습니다. 중앙값 450이 평균 435.1보다 높아, 낮은 종족값 쪽 꼬리가 더 길다는 점이 특징입니다. 600을 넘는 48마리는 대부분 전설이나 메가진화입니다.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상위 10위 안에는 전설이 7마리, 일반이 3마리입니다. 일반 3마리도 모두 메가마기라스, 메가보만다, 메가메타그로스처럼 메가진화 형태입니다. 데이터에 메가진화와 원시회귀가 포함되어 있다는 점은 해석 시 주의해야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타입별 평균 종족값에서는 Dragon이 541.8로 가장 높았고, Steel과 Psychic이 뒤를 이었습니다. Bug는 379.5로 가장 낮아 1위와 162.3 차이가 났습니다. 복합 타입은 두 타입 모두에 집계됐고, 타입별 표본 수가 38에서 126까지 차이 나므로 평균 해석에 주의해야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전설 65마리의 평균 총합은 637.4로 일반 417.2보다 52.8% 높습니다. 여섯 개 능력치 모두에서 앞서며, 특수공격 격차가 53.7로 가장 컸고 HP 격차가 25.6으로 가장 작았습니다. 즉 전설은 내구력보다 화력에서 더 두드러집니다.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총합과의 상관은 특수공격 0.75, 공격 0.74로 높은 반면 스피드는 0.58로 가장 낮습니다. 능력치끼리의 상관은 최대 0.51에 그쳐, 포켓몬의 능력치가 전반적으로 함께 올라가기보다는 특정 능력치에 특화되는 경향을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세대별 평균 종족값은 4세대가 459.0으로 가장 높고 2세대가 418.3으로 가장 낮았습니다. 뚜렷한 상승 추세는 없으며, 3세대에 전설이 18마리로 가장 많이 등장했습니다. 세대별 표본 수 차이도 해석에 고려해야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가지로 정리할 수 있습니다. 전설의 압도적 우위, Dragon의 최강 타입, 상위권의 전설·메가 독식, 그리고 능력치가 서로 독립적으로 특화되는 경향입니다. 다만 총합은 실제 전투력의 대리지표라는 점을 강조하고 싶습니다.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한계는 메가진화와 원시회귀가 포함되어 있다는 점, 그리고 타입 상성이나 기술 데이터가 없어 실제 전투력까지는 설명하지 못한다는 점입니다. 다음 단계로 기본형만 분리한 비교와 타입 상성 기반 시뮬레이션을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발표를 마치겠습니다.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1097280"/>
            <a:ext cx="4754880" cy="4754880"/>
          </a:xfrm>
          <a:prstGeom prst="ellipse">
            <a:avLst/>
          </a:prstGeom>
          <a:solidFill>
            <a:srgbClr val="14213D"/>
          </a:solidFill>
          <a:ln w="31750">
            <a:solidFill>
              <a:srgbClr val="FCA3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3447288"/>
            <a:ext cx="4754880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3017520"/>
            <a:ext cx="914400" cy="914400"/>
          </a:xfrm>
          <a:prstGeom prst="ellipse">
            <a:avLst/>
          </a:prstGeom>
          <a:solidFill>
            <a:srgbClr val="14213D"/>
          </a:solidFill>
          <a:ln w="31750">
            <a:solidFill>
              <a:srgbClr val="FCA3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DATA ANALYSIS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589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pple SD Gothic Neo"/>
                <a:ea typeface="Apple SD Gothic Neo"/>
              </a:rPr>
              <a:t>포켓몬 800마리,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pple SD Gothic Neo"/>
                <a:ea typeface="Apple SD Gothic Neo"/>
              </a:rPr>
              <a:t>능력치로 읽다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96512"/>
            <a:ext cx="1051560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C9D1DF"/>
                </a:solidFill>
                <a:latin typeface="Apple SD Gothic Neo"/>
                <a:ea typeface="Apple SD Gothic Neo"/>
              </a:rPr>
              <a:t>세대 · 타입 · 전설 여부로 살펴본 종족값 구조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C9D1DF"/>
                </a:solidFill>
                <a:latin typeface="Apple SD Gothic Neo"/>
                <a:ea typeface="Apple SD Gothic Neo"/>
              </a:rPr>
              <a:t>Kaggle Pokemon Dataset (800 Pokémon / 13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5B8"/>
                </a:solidFill>
                <a:latin typeface="Apple SD Gothic Neo"/>
                <a:ea typeface="Apple SD Gothic Neo"/>
              </a:rPr>
              <a:t>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오늘 다룰 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8424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데이터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0487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800마리 · 13개 변수 · 결측치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198424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핵심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0487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숫자 4개로 보는 전체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0156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83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분포와 상위권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2219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종족값은 어떻게 퍼져 있는가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20040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340156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83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타입과 전설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82219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가장 강한 타입, 전설의 위상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1772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1888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800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상관과 세대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23951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능력치 조합과 세대별 추이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617720"/>
            <a:ext cx="5303520" cy="11887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399" y="481888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CA311"/>
                </a:solidFill>
                <a:latin typeface="Apple SD Gothic Neo"/>
                <a:ea typeface="Apple SD Gothic Ne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800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</a:rPr>
              <a:t>결론과 한계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23951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인사이트 정리 및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01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데이터 개요와 분석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3410712" cy="120700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Apple SD Gothic Neo"/>
                <a:ea typeface="Apple SD Gothic Neo"/>
              </a:rPr>
              <a:t>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5623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5B6472"/>
                </a:solidFill>
                <a:latin typeface="Apple SD Gothic Neo"/>
                <a:ea typeface="Apple SD Gothic Neo"/>
              </a:rPr>
              <a:t>포켓몬 레코드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17627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1–6세대 전체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64208"/>
            <a:ext cx="3410712" cy="120700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1051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Apple SD Gothic Neo"/>
                <a:ea typeface="Apple SD Gothic Neo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185623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5B6472"/>
                </a:solidFill>
                <a:latin typeface="Apple SD Gothic Neo"/>
                <a:ea typeface="Apple SD Gothic Neo"/>
              </a:rPr>
              <a:t>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17627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타입 · 능력치 · 메타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64208"/>
            <a:ext cx="3410712" cy="120700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Apple SD Gothic Neo"/>
                <a:ea typeface="Apple SD Gothic Ne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185623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5B6472"/>
                </a:solidFill>
                <a:latin typeface="Apple SD Gothic Neo"/>
                <a:ea typeface="Apple SD Gothic Neo"/>
              </a:rPr>
              <a:t>결측치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17627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분석 전 정제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27248"/>
            <a:ext cx="5230368" cy="263347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변수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67328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식별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번호 · 이름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타입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Type 1 · Type 2 (복합 타입 51.8%)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능력치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HP · 공격 · 방어 · 특공 · 특방 · 스피드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메타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총합 · 세대 · 전설 여부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27248"/>
            <a:ext cx="5239512" cy="263347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분석 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67328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01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전처리 — 타입 결측 정리, Boolean 변환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02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기술통계 — 분포·타입·세대별 요약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03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그룹 비교 — 전설 vs 일반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04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상관 분석 — 능력치와 총합의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80176"/>
            <a:ext cx="10332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ple SD Gothic Neo"/>
                <a:ea typeface="Apple SD Gothic Neo"/>
              </a:rPr>
              <a:t>총합(Total)은 6개 능력치의 단순 합 — 원본 데이터에서 100% 일치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02 ·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한눈에 보는 핵심 발견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2487168" cy="184708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64208"/>
            <a:ext cx="2487168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057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Apple SD Gothic Neo"/>
                <a:ea typeface="Apple SD Gothic Neo"/>
              </a:rPr>
              <a:t>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5B6472"/>
                </a:solidFill>
                <a:latin typeface="Apple SD Gothic Neo"/>
                <a:ea typeface="Apple SD Gothic Neo"/>
              </a:rPr>
              <a:t>포켓몬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1–6세대 전체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64208"/>
            <a:ext cx="2487168" cy="184708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64208"/>
            <a:ext cx="2487168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874519"/>
            <a:ext cx="2057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Apple SD Gothic Neo"/>
                <a:ea typeface="Apple SD Gothic Neo"/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514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5B6472"/>
                </a:solidFill>
                <a:latin typeface="Apple SD Gothic Neo"/>
                <a:ea typeface="Apple SD Gothic Neo"/>
              </a:rPr>
              <a:t>전설 포켓몬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전체의 8.1%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64208"/>
            <a:ext cx="2487168" cy="184708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64208"/>
            <a:ext cx="2487168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19"/>
            <a:ext cx="2057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Apple SD Gothic Neo"/>
                <a:ea typeface="Apple SD Gothic Neo"/>
              </a:rPr>
              <a:t>541.8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14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5B6472"/>
                </a:solidFill>
                <a:latin typeface="Apple SD Gothic Neo"/>
                <a:ea typeface="Apple SD Gothic Neo"/>
              </a:rPr>
              <a:t>Dragon 평균 총합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18개 타입 중 1위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664208"/>
            <a:ext cx="2487168" cy="1847088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664208"/>
            <a:ext cx="2487168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874519"/>
            <a:ext cx="2057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Apple SD Gothic Neo"/>
                <a:ea typeface="Apple SD Gothic Neo"/>
              </a:rPr>
              <a:t>637.4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14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5B6472"/>
                </a:solidFill>
                <a:latin typeface="Apple SD Gothic Neo"/>
                <a:ea typeface="Apple SD Gothic Neo"/>
              </a:rPr>
              <a:t>전설 평균 총합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8A93A3"/>
                </a:solidFill>
                <a:latin typeface="Apple SD Gothic Neo"/>
                <a:ea typeface="Apple SD Gothic Neo"/>
              </a:rPr>
              <a:t>일반 417.2 대비 +52.8%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13632"/>
            <a:ext cx="3410712" cy="169164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1148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</a:rPr>
              <a:t>전설은 다른 리그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52628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평균 총합 637.4로 일반보다 52.8% 높고, 6개 능력치 모두 우위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913632"/>
            <a:ext cx="3410712" cy="169164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1148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</a:rPr>
              <a:t>Dragon이 최강 타입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52628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평균 541.8로 1위, 최하위 Bug와는 162.3 차이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913632"/>
            <a:ext cx="3410712" cy="169164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1148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</a:rPr>
              <a:t>상위권은 전설·메가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526280"/>
            <a:ext cx="2907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상위 50위 중 56%가 전설, Top10 중 7마리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7044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3946"/>
                </a:solidFill>
                <a:latin typeface="Apple SD Gothic Neo"/>
                <a:ea typeface="Apple SD Gothic Neo"/>
              </a:rPr>
              <a:t>→ 강함의 구조는 '전설성'과 '타입'이 크게 좌우하며, 상위권은 특수한 형태가 독식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03 ·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종족값은 어디에 몰려 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05 / 13</a:t>
            </a:r>
          </a:p>
        </p:txBody>
      </p:sp>
      <p:pic>
        <p:nvPicPr>
          <p:cNvPr id="8" name="Picture 7" descr="dist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8" y="1572768"/>
            <a:ext cx="6438998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691640"/>
            <a:ext cx="350215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분포 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59152"/>
            <a:ext cx="2971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450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중앙값 · 평균 435.1보다 높음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54.8%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350–550 구간에 집중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48마리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600 초과 · 상위 6.0%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왼쪽 꼬리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저종족값 포켓몬이 평균을 끌어내림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892040"/>
            <a:ext cx="29535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600 초과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4104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4104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상위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608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780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608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최고 종족값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04 · TOP POKÉMON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상위권은 누가 차지했나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06 / 13</a:t>
            </a:r>
          </a:p>
        </p:txBody>
      </p:sp>
      <p:pic>
        <p:nvPicPr>
          <p:cNvPr id="8" name="Picture 7" descr="top10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54" y="1554480"/>
            <a:ext cx="6603386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691640"/>
            <a:ext cx="354787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Top 10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359152"/>
            <a:ext cx="30175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780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메가뮤츠 X·Y, 메가레쿠쟈 공동 1위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7 / 10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상위 10마리 중 전설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56%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상위 50위 중 전설 비율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메가진화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일반 3마리는 모두 메가진화 형태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892040"/>
            <a:ext cx="299923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5047488"/>
            <a:ext cx="926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367527"/>
            <a:ext cx="92659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Top10 전설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3624" y="5047488"/>
            <a:ext cx="926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3624" y="5367527"/>
            <a:ext cx="92659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Top10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3368" y="5047488"/>
            <a:ext cx="926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3368" y="5367527"/>
            <a:ext cx="92659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Top50 전설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05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어떤 타입이 가장 강한가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07 / 13</a:t>
            </a:r>
          </a:p>
        </p:txBody>
      </p:sp>
      <p:pic>
        <p:nvPicPr>
          <p:cNvPr id="8" name="Picture 7" descr="type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82" y="1572768"/>
            <a:ext cx="615255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91640"/>
            <a:ext cx="359359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0195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타입별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59152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541.8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Dragon — 18개 타입 중 1위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486.6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Steel 2위 · Psychic 477.1 3위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379.5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Bug 최하위 · Poison 397.7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162.3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1위와 최하위의 평균 격차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51.8%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복합 타입은 양쪽에 중복 집계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892040"/>
            <a:ext cx="304495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5047488"/>
            <a:ext cx="941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367527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타입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5047488"/>
            <a:ext cx="941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162.3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5367527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1–18위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5047488"/>
            <a:ext cx="941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5367527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Water 개체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06 · LEGENDARY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전설은 정말 다른 리그인가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08 / 13</a:t>
            </a:r>
          </a:p>
        </p:txBody>
      </p:sp>
      <p:pic>
        <p:nvPicPr>
          <p:cNvPr id="8" name="Picture 7" descr="legend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56" y="1627632"/>
            <a:ext cx="633898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691640"/>
            <a:ext cx="363931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일반 vs 전설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59152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+52.8%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전설 평균 총합 637.4 vs 일반 417.2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6 / 6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모든 능력치에서 전설 우위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+53.7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최대 격차: 특수공격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+25.6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최소 격차: HP — 화력에 집중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892040"/>
            <a:ext cx="309067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5047488"/>
            <a:ext cx="957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+220.2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367527"/>
            <a:ext cx="9570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총합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2664" y="5047488"/>
            <a:ext cx="957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8.1%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2664" y="5367527"/>
            <a:ext cx="9570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전설 비중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2888" y="5047488"/>
            <a:ext cx="957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×1.53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52888" y="5367527"/>
            <a:ext cx="9570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총합 배율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07 ·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능력치들은 함께 움직이는가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09 / 13</a:t>
            </a:r>
          </a:p>
        </p:txBody>
      </p:sp>
      <p:pic>
        <p:nvPicPr>
          <p:cNvPr id="8" name="Picture 7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07" y="1645920"/>
            <a:ext cx="4837104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691640"/>
            <a:ext cx="519379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019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상관관계 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6177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300" b="1">
                <a:solidFill>
                  <a:srgbClr val="14213D"/>
                </a:solidFill>
                <a:latin typeface="Apple SD Gothic Neo"/>
                <a:ea typeface="Apple SD Gothic Neo"/>
              </a:rPr>
              <a:t>0.75</a:t>
            </a:r>
            <a:r>
              <a:rPr sz="1300" b="0">
                <a:solidFill>
                  <a:srgbClr val="5B6472"/>
                </a:solidFill>
                <a:latin typeface="Apple SD Gothic Neo"/>
                <a:ea typeface="Apple SD Gothic Neo"/>
              </a:rPr>
              <a:t>  특수공격–총합 상관 (최고)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300" b="1">
                <a:solidFill>
                  <a:srgbClr val="14213D"/>
                </a:solidFill>
                <a:latin typeface="Apple SD Gothic Neo"/>
                <a:ea typeface="Apple SD Gothic Neo"/>
              </a:rPr>
              <a:t>0.74</a:t>
            </a:r>
            <a:r>
              <a:rPr sz="1300" b="0">
                <a:solidFill>
                  <a:srgbClr val="5B6472"/>
                </a:solidFill>
                <a:latin typeface="Apple SD Gothic Neo"/>
                <a:ea typeface="Apple SD Gothic Neo"/>
              </a:rPr>
              <a:t>  공격–총합 상관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300" b="1">
                <a:solidFill>
                  <a:srgbClr val="14213D"/>
                </a:solidFill>
                <a:latin typeface="Apple SD Gothic Neo"/>
                <a:ea typeface="Apple SD Gothic Neo"/>
              </a:rPr>
              <a:t>0.58</a:t>
            </a:r>
            <a:r>
              <a:rPr sz="1300" b="0">
                <a:solidFill>
                  <a:srgbClr val="5B6472"/>
                </a:solidFill>
                <a:latin typeface="Apple SD Gothic Neo"/>
                <a:ea typeface="Apple SD Gothic Neo"/>
              </a:rPr>
              <a:t>  스피드–총합 — 가장 약함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300" b="1">
                <a:solidFill>
                  <a:srgbClr val="14213D"/>
                </a:solidFill>
                <a:latin typeface="Apple SD Gothic Neo"/>
                <a:ea typeface="Apple SD Gothic Neo"/>
              </a:rPr>
              <a:t>0.51</a:t>
            </a:r>
            <a:r>
              <a:rPr sz="1300" b="0">
                <a:solidFill>
                  <a:srgbClr val="5B6472"/>
                </a:solidFill>
                <a:latin typeface="Apple SD Gothic Neo"/>
                <a:ea typeface="Apple SD Gothic Neo"/>
              </a:rPr>
              <a:t>  능력치 간 최대 상관 (방어–특방)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300" b="1">
                <a:solidFill>
                  <a:srgbClr val="14213D"/>
                </a:solidFill>
                <a:latin typeface="Apple SD Gothic Neo"/>
                <a:ea typeface="Apple SD Gothic Neo"/>
              </a:rPr>
              <a:t>특화 경향</a:t>
            </a:r>
            <a:r>
              <a:rPr sz="1300" b="0">
                <a:solidFill>
                  <a:srgbClr val="5B6472"/>
                </a:solidFill>
                <a:latin typeface="Apple SD Gothic Neo"/>
                <a:ea typeface="Apple SD Gothic Neo"/>
              </a:rPr>
              <a:t>  능력치 조합이 특화되는 경향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892040"/>
            <a:ext cx="464515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5047488"/>
            <a:ext cx="1475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367527"/>
            <a:ext cx="1475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총합–특공 최대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6344" y="5047488"/>
            <a:ext cx="1475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6344" y="5367527"/>
            <a:ext cx="1475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능력치 간 최대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4728" y="5047488"/>
            <a:ext cx="1475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4728" y="5367527"/>
            <a:ext cx="1475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최소 상호 상관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08 ·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세대가 지날수록 강해졌을까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10 / 13</a:t>
            </a:r>
          </a:p>
        </p:txBody>
      </p:sp>
      <p:pic>
        <p:nvPicPr>
          <p:cNvPr id="8" name="Picture 7" descr="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843939"/>
            <a:ext cx="7178040" cy="39930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691640"/>
            <a:ext cx="3502152" cy="425196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세대별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59152"/>
            <a:ext cx="2971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459.0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4세대 평균 — 6개 세대 중 최고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418.3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2세대 평균 — 최저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18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3세대 전설 수 — 최다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82–166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세대별 표본 불균형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무추세</a:t>
            </a:r>
            <a:r>
              <a:rPr sz="1250" b="0">
                <a:solidFill>
                  <a:srgbClr val="5B6472"/>
                </a:solidFill>
                <a:latin typeface="Apple SD Gothic Neo"/>
                <a:ea typeface="Apple SD Gothic Neo"/>
              </a:rPr>
              <a:t>  세대가 올라가도 평균은 비슷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892040"/>
            <a:ext cx="29535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최소 표본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4104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4104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최대 표본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608" y="5047488"/>
            <a:ext cx="911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pple SD Gothic Neo"/>
                <a:ea typeface="Apple SD Gothic Neo"/>
              </a:rPr>
              <a:t>459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608" y="5367527"/>
            <a:ext cx="911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A93A3"/>
                </a:solidFill>
                <a:latin typeface="Apple SD Gothic Neo"/>
                <a:ea typeface="Apple SD Gothic Neo"/>
              </a:rPr>
              <a:t>최고 평균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09 ·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분석에서 얻은 네 가지 인사이트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5257800" cy="162763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47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63946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14213D"/>
                </a:solidFill>
                <a:latin typeface="Apple SD Gothic Neo"/>
                <a:ea typeface="Apple SD Gothic Neo"/>
              </a:rPr>
              <a:t>전설은 '다른 리그'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67712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20" b="0">
                <a:solidFill>
                  <a:srgbClr val="5B6472"/>
                </a:solidFill>
                <a:latin typeface="Apple SD Gothic Neo"/>
                <a:ea typeface="Apple SD Gothic Neo"/>
              </a:rPr>
              <a:t>평균 총합 637.4로 일반보다 52.8% 높고, 6개 능력치 모두 우위를 보인다.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64208"/>
            <a:ext cx="5257800" cy="162763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47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63946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828800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14213D"/>
                </a:solidFill>
                <a:latin typeface="Apple SD Gothic Neo"/>
                <a:ea typeface="Apple SD Gothic Neo"/>
              </a:rPr>
              <a:t>Dragon이 최강 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267712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20" b="0">
                <a:solidFill>
                  <a:srgbClr val="5B6472"/>
                </a:solidFill>
                <a:latin typeface="Apple SD Gothic Neo"/>
                <a:ea typeface="Apple SD Gothic Neo"/>
              </a:rPr>
              <a:t>평균 541.8로 1위. 최하위 Bug(379.5)와는 162.3 차이가 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56432"/>
            <a:ext cx="5257800" cy="162763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63946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21024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14213D"/>
                </a:solidFill>
                <a:latin typeface="Apple SD Gothic Neo"/>
                <a:ea typeface="Apple SD Gothic Neo"/>
              </a:rPr>
              <a:t>상위권은 전설·메가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59936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20" b="0">
                <a:solidFill>
                  <a:srgbClr val="5B6472"/>
                </a:solidFill>
                <a:latin typeface="Apple SD Gothic Neo"/>
                <a:ea typeface="Apple SD Gothic Neo"/>
              </a:rPr>
              <a:t>Top10 중 7마리가 전설, 상위 50위의 56%가 전설이다. 일반 3마리는 모두 메가진화다.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456432"/>
            <a:ext cx="5257800" cy="1627632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63931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63946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621024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14213D"/>
                </a:solidFill>
                <a:latin typeface="Apple SD Gothic Neo"/>
                <a:ea typeface="Apple SD Gothic Neo"/>
              </a:rPr>
              <a:t>능력치는 특화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4059936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20" b="0">
                <a:solidFill>
                  <a:srgbClr val="5B6472"/>
                </a:solidFill>
                <a:latin typeface="Apple SD Gothic Neo"/>
                <a:ea typeface="Apple SD Gothic Neo"/>
              </a:rPr>
              <a:t>능력치 간 상관은 최대 0.51. 스피드는 총합과 0.58로 약하게 연결된다.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13248"/>
            <a:ext cx="10725912" cy="713232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5955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</a:rPr>
              <a:t>총합은 강함의 대리지표일 뿐 — 실제 전투력은 타입 상성과 기술 구성까지 함께 봐야 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E63946"/>
                </a:solidFill>
                <a:latin typeface="Apple SD Gothic Neo"/>
                <a:ea typeface="Apple SD Gothic Neo"/>
              </a:rPr>
              <a:t>10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ple SD Gothic Neo"/>
                <a:ea typeface="Apple SD Gothic Neo"/>
              </a:rPr>
              <a:t>한계와 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749808" cy="5029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82512"/>
            <a:ext cx="107259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A93A3"/>
                </a:solidFill>
                <a:latin typeface="Apple SD Gothic Neo"/>
                <a:ea typeface="Apple SD Gothic Neo"/>
              </a:rPr>
              <a:t>출처: Kaggle — abcsds/pokemon  ·  분석 코드: src/analysis.py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90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14213D"/>
                </a:solidFill>
                <a:latin typeface="Apple SD Gothic Neo"/>
                <a:ea typeface="Apple SD Gothic Neo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5257800" cy="32461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분석의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70916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메가진화·원시회귀가 포함되어 기본형 비교가 왜곡됨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타입 상성·기술·특성 데이터가 없어 실제 전투력은 설명하지 못함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세대별 표본 불균형 (82–166마리)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총합은 6개 능력치의 단순 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64208"/>
            <a:ext cx="5257800" cy="3246120"/>
          </a:xfrm>
          <a:prstGeom prst="roundRect">
            <a:avLst>
              <a:gd name="adj" fmla="val 55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7451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pple SD Gothic Neo"/>
                <a:ea typeface="Apple SD Gothic Neo"/>
              </a:rPr>
              <a:t>다음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31720"/>
            <a:ext cx="473659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기본형만 분리해 순수 종족값 비교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타입 상성 기반 배틀 시뮬레이션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능력치 프로필 군집화로 역할 유형 도출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00" b="1">
                <a:solidFill>
                  <a:srgbClr val="FCA311"/>
                </a:solidFill>
                <a:latin typeface="Apple SD Gothic Neo"/>
                <a:ea typeface="Apple SD Gothic Neo"/>
              </a:rPr>
              <a:t>•  </a:t>
            </a:r>
            <a:r>
              <a:rPr sz="1200" b="0">
                <a:solidFill>
                  <a:srgbClr val="5B6472"/>
                </a:solidFill>
                <a:latin typeface="Apple SD Gothic Neo"/>
                <a:ea typeface="Apple SD Gothic Neo"/>
              </a:rPr>
              <a:t>총합 예측 모델 또는 이상치 탐지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40480"/>
            <a:ext cx="4709160" cy="777240"/>
          </a:xfrm>
          <a:prstGeom prst="roundRect">
            <a:avLst>
              <a:gd name="adj" fmla="val 12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0416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E63946"/>
                </a:solidFill>
                <a:latin typeface="Apple SD Gothic Neo"/>
                <a:ea typeface="Apple SD Gothic Neo"/>
              </a:rPr>
              <a:t>→ 메가진화 제외 후 재검증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3840480"/>
            <a:ext cx="4709160" cy="77724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40416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4213D"/>
                </a:solidFill>
                <a:latin typeface="Apple SD Gothic Neo"/>
                <a:ea typeface="Apple SD Gothic Neo"/>
              </a:rPr>
              <a:t>→ 타입 상성 결합으로 승률 예측 확장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93792"/>
            <a:ext cx="10725912" cy="841248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5838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Apple SD Gothic Neo"/>
                <a:ea typeface="Apple SD Gothic Neo"/>
              </a:rPr>
              <a:t>재현 가능성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4184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Apple SD Gothic Neo"/>
                <a:ea typeface="Apple SD Gothic Neo"/>
              </a:rPr>
              <a:t>data/raw/Pokemon.csv · src/analysis.py · src/make_deck.py · src/make_html_deck.py · requirements.txt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1920240"/>
            <a:ext cx="3657600" cy="3657600"/>
          </a:xfrm>
          <a:prstGeom prst="ellipse">
            <a:avLst/>
          </a:prstGeom>
          <a:solidFill>
            <a:srgbClr val="14213D"/>
          </a:solidFill>
          <a:ln w="27940">
            <a:solidFill>
              <a:srgbClr val="FCA3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35440" y="3721608"/>
            <a:ext cx="3657600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3291840"/>
            <a:ext cx="868680" cy="868680"/>
          </a:xfrm>
          <a:prstGeom prst="ellipse">
            <a:avLst/>
          </a:prstGeom>
          <a:solidFill>
            <a:srgbClr val="14213D"/>
          </a:solidFill>
          <a:ln w="27940">
            <a:solidFill>
              <a:srgbClr val="FCA3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CA311"/>
                </a:solidFill>
                <a:latin typeface="Apple SD Gothic Neo"/>
                <a:ea typeface="Apple SD Gothic Neo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C9D1DF"/>
                </a:solidFill>
                <a:latin typeface="Apple SD Gothic Neo"/>
                <a:ea typeface="Apple SD Gothic Neo"/>
              </a:rPr>
              <a:t>질문과 토론을 환영합니다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9AA5B8"/>
                </a:solidFill>
                <a:latin typeface="Apple SD Gothic Neo"/>
                <a:ea typeface="Apple SD Gothic Neo"/>
              </a:rPr>
              <a:t>데이터: Kaggle — abcsds/pokemon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9AA5B8"/>
                </a:solidFill>
                <a:latin typeface="Apple SD Gothic Neo"/>
                <a:ea typeface="Apple SD Gothic Neo"/>
              </a:rPr>
              <a:t>분석 및 슬라이드: src/analysis.py · src/make_deck.py · src/make_html_deck.py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